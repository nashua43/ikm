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8" r:id="rId9"/>
    <p:sldId id="271" r:id="rId10"/>
    <p:sldId id="27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48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440B6-7C81-42CA-B677-FFA057057F68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704CE-54E0-4534-9966-10FF36A37516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51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  <a:t>8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t>20.06.2026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t>20.06.2026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/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/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/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/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t>20.06.2026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3208" y="3032505"/>
            <a:ext cx="10487473" cy="1668284"/>
          </a:xfrm>
        </p:spPr>
        <p:txBody>
          <a:bodyPr>
            <a:noAutofit/>
          </a:bodyPr>
          <a:lstStyle/>
          <a:p>
            <a:r>
              <a:rPr lang="ru-RU" sz="4000" dirty="0"/>
              <a:t>Разработка программного решения для эффективной генерации последовательности с использованием динамических структур данных</a:t>
            </a:r>
            <a:endParaRPr lang="ru-RU" sz="24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Витухина Анастасия Михайловна, Ит-7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/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68411" y="1820562"/>
                <a:ext cx="11310551" cy="462966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ru-RU" sz="3500" b="1" dirty="0"/>
                  <a:t>Цель проекта</a:t>
                </a:r>
                <a:r>
                  <a:rPr lang="en-US" sz="3500" b="1" dirty="0"/>
                  <a:t>:</a:t>
                </a:r>
                <a:endParaRPr lang="ru-RU" sz="3500" b="1" dirty="0"/>
              </a:p>
              <a:p>
                <a:pPr marL="0" indent="0">
                  <a:buNone/>
                </a:pPr>
                <a:r>
                  <a:rPr lang="ru-RU" dirty="0"/>
                  <a:t>Разработка программы для генерации первых </a:t>
                </a:r>
                <a14:m>
                  <m:oMath xmlns:m="http://schemas.openxmlformats.org/officeDocument/2006/math">
                    <m:r>
                      <a:rPr lang="ru-RU" i="1"/>
                      <m:t>𝑛</m:t>
                    </m:r>
                  </m:oMath>
                </a14:m>
                <a:r>
                  <a:rPr lang="ru-RU" dirty="0"/>
                  <a:t>натуральных чисел, разложение которых на простые множители содержит только 2, 3 и 5, с обеспечением строгого порядка возрастания без использования глобальной сортировки</a:t>
                </a:r>
              </a:p>
              <a:p>
                <a:pPr marL="0" indent="0">
                  <a:buNone/>
                </a:pPr>
                <a:br>
                  <a:rPr lang="ru-RU" sz="3500" dirty="0"/>
                </a:br>
                <a:r>
                  <a:rPr lang="ru-RU" sz="3500" b="1" dirty="0"/>
                  <a:t>Основные требования:</a:t>
                </a:r>
                <a:endParaRPr lang="ru-RU" sz="3500" dirty="0"/>
              </a:p>
              <a:p>
                <a:r>
                  <a:rPr lang="ru-RU" dirty="0"/>
                  <a:t>Реализация собственной структуры данных «Очередь» на связном списке</a:t>
                </a:r>
              </a:p>
              <a:p>
                <a:r>
                  <a:rPr lang="ru-RU" dirty="0"/>
                  <a:t>Алгоритм слияния трёх потоков кандидатов через очереди x2, x3, x5</a:t>
                </a:r>
              </a:p>
              <a:p>
                <a:r>
                  <a:rPr lang="ru-RU" dirty="0"/>
                  <a:t>Циклическое консольное меню с понятными пояснениями</a:t>
                </a:r>
              </a:p>
              <a:p>
                <a:r>
                  <a:rPr lang="ru-RU" dirty="0"/>
                  <a:t>Защита от некорректного пользовательского ввода</a:t>
                </a:r>
              </a:p>
              <a:p>
                <a:r>
                  <a:rPr lang="ru-RU" dirty="0"/>
                  <a:t>Разделение кода на логические модули (queue.py, logic.py, main.py)</a:t>
                </a:r>
              </a:p>
              <a:p>
                <a:r>
                  <a:rPr lang="ru-RU" dirty="0"/>
                  <a:t>Соблюдение стандарта PEP 8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Текс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68411" y="1820562"/>
                <a:ext cx="11310551" cy="4629665"/>
              </a:xfrm>
              <a:blipFill>
                <a:blip r:embed="rId2"/>
                <a:stretch>
                  <a:fillRect l="-1024" t="-2767" r="-808" b="-2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70684" y="294194"/>
            <a:ext cx="10650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Организация данных.</a:t>
            </a:r>
          </a:p>
          <a:p>
            <a:r>
              <a:rPr lang="ru-RU" sz="2400" b="1" dirty="0"/>
              <a:t>Модель очереди.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EEC75-CDA6-5336-0A8C-550D37F784E1}"/>
              </a:ext>
            </a:extLst>
          </p:cNvPr>
          <p:cNvSpPr txBox="1"/>
          <p:nvPr/>
        </p:nvSpPr>
        <p:spPr>
          <a:xfrm>
            <a:off x="1194487" y="135837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Объект «Очередь» (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Queue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)</a:t>
            </a: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Реализована на основе односвязного списка для обеспечения сложности O(1) при операциях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enqueue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/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dequeue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.</a:t>
            </a:r>
          </a:p>
          <a:p>
            <a:pPr algn="l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Каждая очередь хранит узлы со следующими атрибутами: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DATA (Данные):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Целое число — кандидат на следующее число последовательности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NEXT (Ссылка):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Указатель на следующий элемент в очереди</a:t>
            </a:r>
          </a:p>
          <a:p>
            <a:pPr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Три независимые очереди:</a:t>
            </a: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x2: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Кандидаты, полученные умножением текущего минимума на 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x3: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Кандидаты, полученные умножением текущего минимума на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x5: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Кандидаты, полученные умножением текущего минимума на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8411" y="631566"/>
            <a:ext cx="76529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Архитектура программы</a:t>
            </a:r>
            <a:r>
              <a:rPr lang="en-US" sz="4400" b="1" dirty="0">
                <a:solidFill>
                  <a:schemeClr val="bg1"/>
                </a:solidFill>
              </a:rPr>
              <a:t>: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217773" y="1779373"/>
            <a:ext cx="3756451" cy="110897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>
            <a:stCxn id="7" idx="2"/>
          </p:cNvCxnSpPr>
          <p:nvPr/>
        </p:nvCxnSpPr>
        <p:spPr>
          <a:xfrm>
            <a:off x="6095999" y="2888351"/>
            <a:ext cx="1" cy="6903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217773" y="2957384"/>
            <a:ext cx="37564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4217773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7974227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2782327" y="3445474"/>
            <a:ext cx="2961497" cy="2098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Алгоритм генерации чисел Хэмминга, управление тремя очередями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6446104" y="3445473"/>
            <a:ext cx="3035645" cy="2156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	</a:t>
            </a:r>
          </a:p>
          <a:p>
            <a:pPr algn="ctr"/>
            <a:r>
              <a:rPr lang="ru-RU"/>
              <a:t>Определение классов Node и Queue (собственная реализация)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4886" y="1801096"/>
            <a:ext cx="320932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main.py</a:t>
            </a:r>
            <a:endParaRPr lang="ru-RU" sz="2000" b="1" dirty="0">
              <a:solidFill>
                <a:schemeClr val="bg1"/>
              </a:solidFill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    </a:t>
            </a:r>
            <a:r>
              <a:rPr lang="ru-RU" sz="1600" b="1" dirty="0">
                <a:solidFill>
                  <a:schemeClr val="bg1"/>
                </a:solidFill>
              </a:rPr>
              <a:t>Запуск программы, циклическое меню, обработка ввода пользователя</a:t>
            </a:r>
            <a:r>
              <a:rPr lang="en-US" sz="1600" b="1" dirty="0">
                <a:solidFill>
                  <a:schemeClr val="bg1"/>
                </a:solidFill>
              </a:rPr>
              <a:t>          </a:t>
            </a:r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21449" y="3496992"/>
            <a:ext cx="11985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logic</a:t>
            </a:r>
            <a:r>
              <a:rPr lang="ru-RU" sz="2000" b="1" dirty="0">
                <a:solidFill>
                  <a:schemeClr val="bg1"/>
                </a:solidFill>
              </a:rPr>
              <a:t>.</a:t>
            </a:r>
            <a:r>
              <a:rPr lang="en-GB" sz="2000" b="1" dirty="0" err="1">
                <a:solidFill>
                  <a:schemeClr val="bg1"/>
                </a:solidFill>
              </a:rPr>
              <a:t>py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269891" y="3516978"/>
            <a:ext cx="14086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en-GB" sz="2000" b="1" dirty="0">
                <a:solidFill>
                  <a:schemeClr val="bg1"/>
                </a:solidFill>
              </a:rPr>
              <a:t>reports.py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71848" y="349843"/>
            <a:ext cx="10824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Алгоритм генерации чисел Хэмминга:</a:t>
            </a:r>
            <a:endParaRPr lang="ru-RU"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1070917" y="1139039"/>
            <a:ext cx="1056091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Принцип работы:</a:t>
            </a:r>
          </a:p>
          <a:p>
            <a:endParaRPr lang="ru-RU" sz="2000" dirty="0"/>
          </a:p>
          <a:p>
            <a:r>
              <a:rPr lang="ru-RU" sz="2000" b="1" dirty="0"/>
              <a:t>ИНИЦИАЛИЗАЦИЯ</a:t>
            </a:r>
          </a:p>
          <a:p>
            <a:r>
              <a:rPr lang="ru-RU" sz="2000" dirty="0"/>
              <a:t>Создаются три пустые очереди. Первое число — 1. Начальные кандидаты: x2=2, x3=3, x5=5.</a:t>
            </a:r>
          </a:p>
          <a:p>
            <a:endParaRPr lang="ru-RU" sz="2000" dirty="0"/>
          </a:p>
          <a:p>
            <a:r>
              <a:rPr lang="ru-RU" sz="2000" b="1" dirty="0"/>
              <a:t>ВЫБОР МИНИМУМА</a:t>
            </a:r>
          </a:p>
          <a:p>
            <a:r>
              <a:rPr lang="ru-RU" sz="2000" dirty="0"/>
              <a:t>На каждом шаге выбирается наименьший элемент среди голов всех трёх очередей:</a:t>
            </a:r>
          </a:p>
          <a:p>
            <a:r>
              <a:rPr lang="ru-RU" sz="2000" dirty="0" err="1"/>
              <a:t>min_val</a:t>
            </a:r>
            <a:r>
              <a:rPr lang="ru-RU" sz="2000" dirty="0"/>
              <a:t> = </a:t>
            </a:r>
            <a:r>
              <a:rPr lang="ru-RU" sz="2000" dirty="0" err="1"/>
              <a:t>min</a:t>
            </a:r>
            <a:r>
              <a:rPr lang="ru-RU" sz="2000" dirty="0"/>
              <a:t>(x2.peek(), x3.peek(), x5.peek()).</a:t>
            </a:r>
          </a:p>
          <a:p>
            <a:endParaRPr lang="ru-RU" sz="2000" b="1" dirty="0"/>
          </a:p>
          <a:p>
            <a:r>
              <a:rPr lang="ru-RU" sz="2000" b="1" dirty="0"/>
              <a:t>УДАЛЕНИЕ ДУБЛИКАТОВ</a:t>
            </a:r>
          </a:p>
          <a:p>
            <a:r>
              <a:rPr lang="ru-RU" sz="2000" dirty="0"/>
              <a:t>Минимальное значение удаляется из ВСЕХ очередей, где оно встречается в голове (например, 6 может быть одновременно в x2 и x3).</a:t>
            </a:r>
          </a:p>
          <a:p>
            <a:endParaRPr lang="ru-RU" sz="2000" b="1" dirty="0"/>
          </a:p>
          <a:p>
            <a:r>
              <a:rPr lang="ru-RU" sz="2000" b="1" dirty="0"/>
              <a:t>ГЕНЕРАЦИЯ НОВЫХ КАНДИДАТОВ</a:t>
            </a:r>
          </a:p>
          <a:p>
            <a:r>
              <a:rPr lang="ru-RU" sz="2000" dirty="0"/>
              <a:t>Найденный минимум умножается на 2, 3, 5 и результаты добавляются в соответствующие очереди.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892" y="551723"/>
            <a:ext cx="113682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>
                <a:solidFill>
                  <a:schemeClr val="bg1"/>
                </a:solidFill>
              </a:rPr>
              <a:t>Система проверки данных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56669" y="195688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 ГЛАВНОЕ МЕНЮ (8 пунктов)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1194" y="2120270"/>
            <a:ext cx="4712043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Три вида отчётов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1: Полный список сотрудников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год↓, стаж↓, фамилия↑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2: Сотрудники отдел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оклад↓, фамилия↑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3: Сотрудники с окладом выше среднего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должность↑, фамилия↑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906163" y="1854125"/>
                <a:ext cx="9984258" cy="445215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RU" sz="2400" b="1" dirty="0"/>
                  <a:t>Особенности защиты от ошибок:</a:t>
                </a:r>
              </a:p>
              <a:p>
                <a:endParaRPr lang="ru-RU" sz="2400" dirty="0"/>
              </a:p>
              <a:p>
                <a:r>
                  <a:rPr lang="ru-RU" sz="2400" b="1" dirty="0"/>
                  <a:t>Тип данных:</a:t>
                </a:r>
                <a:r>
                  <a:rPr lang="ru-RU" sz="2400" dirty="0"/>
                  <a:t> Проверка на целое число (буквы, дроби → ошибка)</a:t>
                </a:r>
              </a:p>
              <a:p>
                <a:r>
                  <a:rPr lang="ru-RU" sz="2400" b="1" dirty="0"/>
                  <a:t>Диапазон значений: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i="1"/>
                      <m:t>𝑛</m:t>
                    </m:r>
                    <m:r>
                      <a:rPr lang="ru-RU" sz="2400"/>
                      <m:t>&gt;0</m:t>
                    </m:r>
                  </m:oMath>
                </a14:m>
                <a:r>
                  <a:rPr lang="ru-RU" sz="2400" dirty="0"/>
                  <a:t>(отрицательные числа и ноль → ошибка)</a:t>
                </a:r>
              </a:p>
              <a:p>
                <a:r>
                  <a:rPr lang="ru-RU" sz="2400" b="1" dirty="0"/>
                  <a:t>Защита консоли:</a:t>
                </a:r>
                <a:r>
                  <a:rPr lang="ru-RU" sz="2400" dirty="0"/>
                  <a:t> При </a:t>
                </a:r>
                <a14:m>
                  <m:oMath xmlns:m="http://schemas.openxmlformats.org/officeDocument/2006/math">
                    <m:r>
                      <a:rPr lang="ru-RU" sz="2400" i="1"/>
                      <m:t>𝑛</m:t>
                    </m:r>
                    <m:r>
                      <a:rPr lang="ru-RU" sz="2400"/>
                      <m:t>&gt;10000</m:t>
                    </m:r>
                  </m:oMath>
                </a14:m>
                <a:r>
                  <a:rPr lang="ru-RU" sz="2400" dirty="0"/>
                  <a:t>запрашивается подтверждение пользователя</a:t>
                </a:r>
              </a:p>
              <a:p>
                <a:r>
                  <a:rPr lang="ru-RU" sz="2400" b="1" dirty="0"/>
                  <a:t>Циклическое меню:</a:t>
                </a:r>
                <a:r>
                  <a:rPr lang="ru-RU" sz="2400" dirty="0"/>
                  <a:t> Неверный выбор пункта → повторный запрос, программа не завершается</a:t>
                </a:r>
              </a:p>
              <a:p>
                <a:r>
                  <a:rPr lang="ru-RU" sz="2400" b="1" dirty="0"/>
                  <a:t>Обработка исключений:</a:t>
                </a:r>
                <a:r>
                  <a:rPr lang="ru-RU" sz="2400" dirty="0"/>
                  <a:t> Перехват </a:t>
                </a:r>
                <a:r>
                  <a:rPr lang="ru-RU" sz="2400" dirty="0" err="1"/>
                  <a:t>ValueError</a:t>
                </a:r>
                <a:r>
                  <a:rPr lang="ru-RU" sz="2400" dirty="0"/>
                  <a:t>, </a:t>
                </a:r>
                <a:r>
                  <a:rPr lang="ru-RU" sz="2400" dirty="0" err="1"/>
                  <a:t>IndexError</a:t>
                </a:r>
                <a:r>
                  <a:rPr lang="ru-RU" sz="2400" dirty="0"/>
                  <a:t> с информативными сообщениями</a:t>
                </a: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163" y="1854125"/>
                <a:ext cx="9984258" cy="4452152"/>
              </a:xfrm>
              <a:prstGeom prst="rect">
                <a:avLst/>
              </a:prstGeom>
              <a:blipFill>
                <a:blip r:embed="rId2"/>
                <a:stretch>
                  <a:fillRect l="-9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042983" y="160373"/>
            <a:ext cx="7644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Примеры работы кода</a:t>
            </a:r>
            <a:r>
              <a:rPr lang="en-US" sz="4800" b="1" dirty="0"/>
              <a:t>:</a:t>
            </a:r>
            <a:endParaRPr lang="ru-RU" sz="48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5780DB-6BB1-4838-3E05-DA60E2632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6" y="991370"/>
            <a:ext cx="3820082" cy="2490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316D48-DC6B-E501-DE29-BF3E0525FE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476" y="1296409"/>
            <a:ext cx="6933338" cy="13150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2CF6E6-C9F4-A092-B49F-E6017A080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537" y="3316784"/>
            <a:ext cx="4560203" cy="18594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3C89CE6-A1EA-7D29-C93E-E18B6D7B35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76" y="4886294"/>
            <a:ext cx="3066492" cy="9803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3200" y="1162747"/>
            <a:ext cx="397813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1" dirty="0"/>
              <a:t>Пример тестов</a:t>
            </a:r>
            <a:r>
              <a:rPr lang="ru-RU" sz="2400" dirty="0"/>
              <a:t>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E26916-0FD5-022A-9009-9003AE8C7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594" y="466983"/>
            <a:ext cx="5935980" cy="2019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3814ED2-5867-1982-C18E-641ED5320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3" y="2775821"/>
            <a:ext cx="8201114" cy="8605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6C2718B-88E0-63B0-A11F-EE83FDCB2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17" y="3950670"/>
            <a:ext cx="6631026" cy="9125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AEBC425-81B1-42E3-8A7A-5B4AA688A9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1231" y="3907891"/>
            <a:ext cx="3831352" cy="24831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61952" y="-423910"/>
            <a:ext cx="3650668" cy="2051579"/>
          </a:xfrm>
        </p:spPr>
        <p:txBody>
          <a:bodyPr/>
          <a:lstStyle/>
          <a:p>
            <a:r>
              <a:rPr lang="ru-RU" sz="5400" b="1" dirty="0">
                <a:latin typeface="+mn-lt"/>
                <a:cs typeface="+mn-lt"/>
              </a:rPr>
              <a:t>Итог: </a:t>
            </a:r>
          </a:p>
        </p:txBody>
      </p:sp>
      <p:sp>
        <p:nvSpPr>
          <p:cNvPr id="15" name="Текст 14"/>
          <p:cNvSpPr txBox="1">
            <a:spLocks noGrp="1"/>
          </p:cNvSpPr>
          <p:nvPr>
            <p:ph type="body" idx="1"/>
          </p:nvPr>
        </p:nvSpPr>
        <p:spPr>
          <a:xfrm>
            <a:off x="1085430" y="1815737"/>
            <a:ext cx="10551314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В результате работы была успешно разработана программа «Генератор чисел Хэмминга», которая:</a:t>
            </a:r>
          </a:p>
          <a:p>
            <a:r>
              <a:rPr lang="ru-RU" sz="2000" b="1" dirty="0"/>
              <a:t>Полностью соответствует всем требованиям технического задания</a:t>
            </a:r>
          </a:p>
          <a:p>
            <a:r>
              <a:rPr lang="ru-RU" sz="2000" b="1" dirty="0"/>
              <a:t>Реализует собственный класс очереди на связном списке без сторонних библиотек</a:t>
            </a:r>
          </a:p>
          <a:p>
            <a:r>
              <a:rPr lang="ru-RU" sz="2000" b="1" dirty="0"/>
              <a:t>Обеспечивает генерацию чисел за O(n) без сортировки всего массива</a:t>
            </a:r>
          </a:p>
          <a:p>
            <a:r>
              <a:rPr lang="ru-RU" sz="2000" b="1" dirty="0"/>
              <a:t>Гарантирует корректность данных благодаря системе проверки ввода</a:t>
            </a:r>
          </a:p>
          <a:p>
            <a:r>
              <a:rPr lang="ru-RU" sz="2000" b="1" dirty="0"/>
              <a:t>Прошла всестороннее тестирование и доказала свою надёжность</a:t>
            </a:r>
            <a:endParaRPr lang="en-US" sz="2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3207" y="2858518"/>
            <a:ext cx="10190911" cy="1668284"/>
          </a:xfrm>
        </p:spPr>
        <p:txBody>
          <a:bodyPr>
            <a:noAutofit/>
          </a:bodyPr>
          <a:lstStyle/>
          <a:p>
            <a:r>
              <a:rPr lang="ru-RU" sz="8000" b="1" dirty="0"/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545</Words>
  <Application>Microsoft Office PowerPoint</Application>
  <PresentationFormat>Широкоэкранный</PresentationFormat>
  <Paragraphs>80</Paragraphs>
  <Slides>10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PermianSansTypeface</vt:lpstr>
      <vt:lpstr>PermianSerifTypeface</vt:lpstr>
      <vt:lpstr>system-ui</vt:lpstr>
      <vt:lpstr>Тема Office</vt:lpstr>
      <vt:lpstr>Разработка программного решения для эффективной генерации последовательности с использованием динамических структур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Итог: 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Настя Витухина</cp:lastModifiedBy>
  <cp:revision>37</cp:revision>
  <dcterms:created xsi:type="dcterms:W3CDTF">2026-01-14T05:16:54Z</dcterms:created>
  <dcterms:modified xsi:type="dcterms:W3CDTF">2026-06-19T20:00:25Z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1049-11.1.0.11723</vt:lpwstr>
  </property>
</Properties>
</file>